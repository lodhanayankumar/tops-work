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26" autoAdjust="0"/>
    <p:restoredTop sz="94660"/>
  </p:normalViewPr>
  <p:slideViewPr>
    <p:cSldViewPr>
      <p:cViewPr varScale="1">
        <p:scale>
          <a:sx n="69" d="100"/>
          <a:sy n="69" d="100"/>
        </p:scale>
        <p:origin x="-1440"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CF96010-AC78-4E2A-9350-AF3EA3BB680B}"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C62D7A-D37A-461D-88A2-E477EB44F8C9}" type="slidenum">
              <a:rPr lang="en-US" smtClean="0"/>
              <a:t>‹#›</a:t>
            </a:fld>
            <a:endParaRPr lang="en-US"/>
          </a:p>
        </p:txBody>
      </p:sp>
    </p:spTree>
    <p:extLst>
      <p:ext uri="{BB962C8B-B14F-4D97-AF65-F5344CB8AC3E}">
        <p14:creationId xmlns:p14="http://schemas.microsoft.com/office/powerpoint/2010/main" val="2347875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CF96010-AC78-4E2A-9350-AF3EA3BB680B}"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C62D7A-D37A-461D-88A2-E477EB44F8C9}" type="slidenum">
              <a:rPr lang="en-US" smtClean="0"/>
              <a:t>‹#›</a:t>
            </a:fld>
            <a:endParaRPr lang="en-US"/>
          </a:p>
        </p:txBody>
      </p:sp>
    </p:spTree>
    <p:extLst>
      <p:ext uri="{BB962C8B-B14F-4D97-AF65-F5344CB8AC3E}">
        <p14:creationId xmlns:p14="http://schemas.microsoft.com/office/powerpoint/2010/main" val="804920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CF96010-AC78-4E2A-9350-AF3EA3BB680B}"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C62D7A-D37A-461D-88A2-E477EB44F8C9}" type="slidenum">
              <a:rPr lang="en-US" smtClean="0"/>
              <a:t>‹#›</a:t>
            </a:fld>
            <a:endParaRPr lang="en-US"/>
          </a:p>
        </p:txBody>
      </p:sp>
    </p:spTree>
    <p:extLst>
      <p:ext uri="{BB962C8B-B14F-4D97-AF65-F5344CB8AC3E}">
        <p14:creationId xmlns:p14="http://schemas.microsoft.com/office/powerpoint/2010/main" val="2544805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CF96010-AC78-4E2A-9350-AF3EA3BB680B}" type="datetimeFigureOut">
              <a:rPr lang="en-US" smtClean="0"/>
              <a:t>3/20/2026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C62D7A-D37A-461D-88A2-E477EB44F8C9}" type="slidenum">
              <a:rPr lang="en-US" smtClean="0"/>
              <a:t>‹#›</a:t>
            </a:fld>
            <a:endParaRPr lang="en-US"/>
          </a:p>
        </p:txBody>
      </p:sp>
    </p:spTree>
    <p:extLst>
      <p:ext uri="{BB962C8B-B14F-4D97-AF65-F5344CB8AC3E}">
        <p14:creationId xmlns:p14="http://schemas.microsoft.com/office/powerpoint/2010/main" val="1434758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CF96010-AC78-4E2A-9350-AF3EA3BB680B}" type="datetimeFigureOut">
              <a:rPr lang="en-US" smtClean="0"/>
              <a:t>3/20/2026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6C62D7A-D37A-461D-88A2-E477EB44F8C9}" type="slidenum">
              <a:rPr lang="en-US" smtClean="0"/>
              <a:t>‹#›</a:t>
            </a:fld>
            <a:endParaRPr lang="en-US"/>
          </a:p>
        </p:txBody>
      </p:sp>
    </p:spTree>
    <p:extLst>
      <p:ext uri="{BB962C8B-B14F-4D97-AF65-F5344CB8AC3E}">
        <p14:creationId xmlns:p14="http://schemas.microsoft.com/office/powerpoint/2010/main" val="508438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CF96010-AC78-4E2A-9350-AF3EA3BB680B}" type="datetimeFigureOut">
              <a:rPr lang="en-US" smtClean="0"/>
              <a:t>3/20/2026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6C62D7A-D37A-461D-88A2-E477EB44F8C9}" type="slidenum">
              <a:rPr lang="en-US" smtClean="0"/>
              <a:t>‹#›</a:t>
            </a:fld>
            <a:endParaRPr lang="en-US"/>
          </a:p>
        </p:txBody>
      </p:sp>
    </p:spTree>
    <p:extLst>
      <p:ext uri="{BB962C8B-B14F-4D97-AF65-F5344CB8AC3E}">
        <p14:creationId xmlns:p14="http://schemas.microsoft.com/office/powerpoint/2010/main" val="42486674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F96010-AC78-4E2A-9350-AF3EA3BB680B}" type="datetimeFigureOut">
              <a:rPr lang="en-US" smtClean="0"/>
              <a:t>3/20/2026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6C62D7A-D37A-461D-88A2-E477EB44F8C9}" type="slidenum">
              <a:rPr lang="en-US" smtClean="0"/>
              <a:t>‹#›</a:t>
            </a:fld>
            <a:endParaRPr lang="en-US"/>
          </a:p>
        </p:txBody>
      </p:sp>
    </p:spTree>
    <p:extLst>
      <p:ext uri="{BB962C8B-B14F-4D97-AF65-F5344CB8AC3E}">
        <p14:creationId xmlns:p14="http://schemas.microsoft.com/office/powerpoint/2010/main" val="170784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F96010-AC78-4E2A-9350-AF3EA3BB680B}" type="datetimeFigureOut">
              <a:rPr lang="en-US" smtClean="0"/>
              <a:t>3/20/2026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C62D7A-D37A-461D-88A2-E477EB44F8C9}" type="slidenum">
              <a:rPr lang="en-US" smtClean="0"/>
              <a:t>‹#›</a:t>
            </a:fld>
            <a:endParaRPr lang="en-US"/>
          </a:p>
        </p:txBody>
      </p:sp>
    </p:spTree>
    <p:extLst>
      <p:ext uri="{BB962C8B-B14F-4D97-AF65-F5344CB8AC3E}">
        <p14:creationId xmlns:p14="http://schemas.microsoft.com/office/powerpoint/2010/main" val="1256012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F96010-AC78-4E2A-9350-AF3EA3BB680B}" type="datetimeFigureOut">
              <a:rPr lang="en-US" smtClean="0"/>
              <a:t>3/20/2026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C62D7A-D37A-461D-88A2-E477EB44F8C9}" type="slidenum">
              <a:rPr lang="en-US" smtClean="0"/>
              <a:t>‹#›</a:t>
            </a:fld>
            <a:endParaRPr lang="en-US"/>
          </a:p>
        </p:txBody>
      </p:sp>
    </p:spTree>
    <p:extLst>
      <p:ext uri="{BB962C8B-B14F-4D97-AF65-F5344CB8AC3E}">
        <p14:creationId xmlns:p14="http://schemas.microsoft.com/office/powerpoint/2010/main" val="2314801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CF96010-AC78-4E2A-9350-AF3EA3BB680B}"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C62D7A-D37A-461D-88A2-E477EB44F8C9}" type="slidenum">
              <a:rPr lang="en-US" smtClean="0"/>
              <a:t>‹#›</a:t>
            </a:fld>
            <a:endParaRPr lang="en-US"/>
          </a:p>
        </p:txBody>
      </p:sp>
    </p:spTree>
    <p:extLst>
      <p:ext uri="{BB962C8B-B14F-4D97-AF65-F5344CB8AC3E}">
        <p14:creationId xmlns:p14="http://schemas.microsoft.com/office/powerpoint/2010/main" val="2863080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CF96010-AC78-4E2A-9350-AF3EA3BB680B}" type="datetimeFigureOut">
              <a:rPr lang="en-US" smtClean="0"/>
              <a:t>3/20/2026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C62D7A-D37A-461D-88A2-E477EB44F8C9}" type="slidenum">
              <a:rPr lang="en-US" smtClean="0"/>
              <a:t>‹#›</a:t>
            </a:fld>
            <a:endParaRPr lang="en-US"/>
          </a:p>
        </p:txBody>
      </p:sp>
    </p:spTree>
    <p:extLst>
      <p:ext uri="{BB962C8B-B14F-4D97-AF65-F5344CB8AC3E}">
        <p14:creationId xmlns:p14="http://schemas.microsoft.com/office/powerpoint/2010/main" val="3303730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F96010-AC78-4E2A-9350-AF3EA3BB680B}" type="datetimeFigureOut">
              <a:rPr lang="en-US" smtClean="0"/>
              <a:t>3/20/2026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C62D7A-D37A-461D-88A2-E477EB44F8C9}" type="slidenum">
              <a:rPr lang="en-US" smtClean="0"/>
              <a:t>‹#›</a:t>
            </a:fld>
            <a:endParaRPr lang="en-US"/>
          </a:p>
        </p:txBody>
      </p:sp>
    </p:spTree>
    <p:extLst>
      <p:ext uri="{BB962C8B-B14F-4D97-AF65-F5344CB8AC3E}">
        <p14:creationId xmlns:p14="http://schemas.microsoft.com/office/powerpoint/2010/main" val="22187183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Create a DFD for a hospital management system. </a:t>
            </a:r>
            <a:endParaRPr lang="en-US" dirty="0"/>
          </a:p>
        </p:txBody>
      </p:sp>
    </p:spTree>
    <p:extLst>
      <p:ext uri="{BB962C8B-B14F-4D97-AF65-F5344CB8AC3E}">
        <p14:creationId xmlns:p14="http://schemas.microsoft.com/office/powerpoint/2010/main" val="1438626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19400"/>
            <a:ext cx="8229600" cy="1143000"/>
          </a:xfrm>
        </p:spPr>
        <p:txBody>
          <a:bodyPr>
            <a:normAutofit fontScale="90000"/>
          </a:bodyPr>
          <a:lstStyle/>
          <a:p>
            <a:r>
              <a:rPr lang="en-US" b="1" dirty="0" smtClean="0"/>
              <a:t>Level 0 — Context diagram (the big picture)</a:t>
            </a:r>
            <a:br>
              <a:rPr lang="en-US" b="1" dirty="0" smtClean="0"/>
            </a:br>
            <a:r>
              <a:rPr lang="en-US" dirty="0" smtClean="0"/>
              <a:t>This is the simplest view. The entire hospital system is one circle in the middle. Outside it are all the people and systems that interact with it (called "external entities"). Arrows show what data passes between them.</a:t>
            </a:r>
            <a:br>
              <a:rPr lang="en-US" dirty="0" smtClean="0"/>
            </a:br>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7521251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0"/>
            <a:ext cx="8305800" cy="670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58426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b="1" dirty="0" smtClean="0"/>
              <a:t>What you're looking at:</a:t>
            </a:r>
            <a:r>
              <a:rPr lang="en-US" sz="2400" dirty="0" smtClean="0"/>
              <a:t> The blue circle is the entire hospital system treated as one "black box". The green rectangles are everyone who interacts with it from the outside. Arrows show the flow of information — for example, a Patient sends "registration info" in, and gets back an "appointment/bill". You can click any box to learn more.</a:t>
            </a:r>
          </a:p>
          <a:p>
            <a:r>
              <a:rPr lang="en-US" sz="2400" b="1" dirty="0" smtClean="0"/>
              <a:t>Level 1 — Detailed DFD (inside the system)</a:t>
            </a:r>
          </a:p>
          <a:p>
            <a:r>
              <a:rPr lang="en-US" sz="2400" dirty="0" smtClean="0"/>
              <a:t>Now we "zoom in" to the blue circle and show the 5 major processes happening inside, plus the data stores (where information is saved). This is the heart of the DFD.</a:t>
            </a:r>
          </a:p>
          <a:p>
            <a:endParaRPr lang="en-US" sz="2400" dirty="0"/>
          </a:p>
        </p:txBody>
      </p:sp>
    </p:spTree>
    <p:extLst>
      <p:ext uri="{BB962C8B-B14F-4D97-AF65-F5344CB8AC3E}">
        <p14:creationId xmlns:p14="http://schemas.microsoft.com/office/powerpoint/2010/main" val="26463606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6800" y="152400"/>
            <a:ext cx="7391400" cy="662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1797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r>
              <a:rPr lang="en-US" sz="1600" b="1" dirty="0" smtClean="0">
                <a:effectLst/>
              </a:rPr>
              <a:t>How to read a DFD — key concepts</a:t>
            </a:r>
          </a:p>
          <a:p>
            <a:r>
              <a:rPr lang="en-US" sz="1600" b="1" dirty="0" smtClean="0">
                <a:effectLst/>
              </a:rPr>
              <a:t>External entities</a:t>
            </a:r>
            <a:r>
              <a:rPr lang="en-US" sz="1600" dirty="0" smtClean="0">
                <a:effectLst/>
              </a:rPr>
              <a:t> (green rectangles) — people or systems outside the hospital. They are the sources and destinations of data: Patient, Doctor, Lab, Pharmacy, Insurance.</a:t>
            </a:r>
          </a:p>
          <a:p>
            <a:r>
              <a:rPr lang="en-US" sz="1600" b="1" dirty="0" smtClean="0">
                <a:effectLst/>
              </a:rPr>
              <a:t>Processes</a:t>
            </a:r>
            <a:r>
              <a:rPr lang="en-US" sz="1600" dirty="0" smtClean="0">
                <a:effectLst/>
              </a:rPr>
              <a:t> (blue circles) — actions the system performs on data. Each process transforms input data into output data:</a:t>
            </a:r>
          </a:p>
          <a:p>
            <a:r>
              <a:rPr lang="en-US" sz="1600" dirty="0" smtClean="0">
                <a:effectLst/>
              </a:rPr>
              <a:t>P1 — Patient registration: collects personal details, creates a patient record</a:t>
            </a:r>
          </a:p>
          <a:p>
            <a:r>
              <a:rPr lang="en-US" sz="1600" dirty="0" smtClean="0">
                <a:effectLst/>
              </a:rPr>
              <a:t>P2 — Appointment scheduling: books a time slot for a patient-doctor meeting</a:t>
            </a:r>
          </a:p>
          <a:p>
            <a:r>
              <a:rPr lang="en-US" sz="1600" dirty="0" smtClean="0">
                <a:effectLst/>
              </a:rPr>
              <a:t>P3 — Medical records &amp; diagnosis: the doctor records diagnosis; links to lab test requests and results</a:t>
            </a:r>
          </a:p>
          <a:p>
            <a:r>
              <a:rPr lang="en-US" sz="1600" dirty="0" smtClean="0">
                <a:effectLst/>
              </a:rPr>
              <a:t>P4 — Prescription &amp; pharmacy: issues prescriptions; notifies pharmacy to dispense drugs</a:t>
            </a:r>
          </a:p>
          <a:p>
            <a:r>
              <a:rPr lang="en-US" sz="1600" dirty="0" smtClean="0">
                <a:effectLst/>
              </a:rPr>
              <a:t>P5 — Billing &amp; insurance: calculates the total cost and sends a claim to insurance</a:t>
            </a:r>
          </a:p>
          <a:p>
            <a:r>
              <a:rPr lang="en-US" sz="1600" b="1" dirty="0" smtClean="0">
                <a:effectLst/>
              </a:rPr>
              <a:t>Data stores</a:t>
            </a:r>
            <a:r>
              <a:rPr lang="en-US" sz="1600" dirty="0" smtClean="0">
                <a:effectLst/>
              </a:rPr>
              <a:t> (purple open rectangles) — databases where information is saved and retrieved:</a:t>
            </a:r>
          </a:p>
          <a:p>
            <a:r>
              <a:rPr lang="en-US" sz="1600" dirty="0" smtClean="0">
                <a:effectLst/>
              </a:rPr>
              <a:t>DS1 — Patient database (names, IDs, contact details)</a:t>
            </a:r>
          </a:p>
          <a:p>
            <a:r>
              <a:rPr lang="en-US" sz="1600" dirty="0" smtClean="0">
                <a:effectLst/>
              </a:rPr>
              <a:t>DS2 — Appointments (dates, times, doctor assignments)</a:t>
            </a:r>
          </a:p>
          <a:p>
            <a:r>
              <a:rPr lang="en-US" sz="1600" dirty="0" smtClean="0">
                <a:effectLst/>
              </a:rPr>
              <a:t>DS3 — Medical records (diagnoses, treatment history)</a:t>
            </a:r>
          </a:p>
          <a:p>
            <a:r>
              <a:rPr lang="en-US" sz="1600" dirty="0" smtClean="0">
                <a:effectLst/>
              </a:rPr>
              <a:t>DS4 — Prescriptions (medicines, dosages)</a:t>
            </a:r>
          </a:p>
          <a:p>
            <a:r>
              <a:rPr lang="en-US" sz="1600" dirty="0" smtClean="0">
                <a:effectLst/>
              </a:rPr>
              <a:t>DS5 — Billing records (invoices, payments)</a:t>
            </a:r>
          </a:p>
          <a:p>
            <a:r>
              <a:rPr lang="en-US" sz="1600" b="1" dirty="0" smtClean="0">
                <a:effectLst/>
              </a:rPr>
              <a:t>Data flows</a:t>
            </a:r>
            <a:r>
              <a:rPr lang="en-US" sz="1600" dirty="0" smtClean="0">
                <a:effectLst/>
              </a:rPr>
              <a:t> (blue arrows) — lines showing what information travels between entities, processes, and stores. The arrow direction tells you </a:t>
            </a:r>
            <a:r>
              <a:rPr lang="en-US" sz="1600" i="1" dirty="0" smtClean="0">
                <a:effectLst/>
              </a:rPr>
              <a:t>which way</a:t>
            </a:r>
            <a:r>
              <a:rPr lang="en-US" sz="1600" dirty="0" smtClean="0">
                <a:effectLst/>
              </a:rPr>
              <a:t> the data moves. For example, "Personal details" flows from the Patient into P1, and "Final bill" flows back out to the Patient after P5.</a:t>
            </a:r>
          </a:p>
          <a:p>
            <a:endParaRPr lang="en-US" sz="1600" dirty="0"/>
          </a:p>
        </p:txBody>
      </p:sp>
    </p:spTree>
    <p:extLst>
      <p:ext uri="{BB962C8B-B14F-4D97-AF65-F5344CB8AC3E}">
        <p14:creationId xmlns:p14="http://schemas.microsoft.com/office/powerpoint/2010/main" val="2856269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884238"/>
          </a:xfrm>
        </p:spPr>
        <p:txBody>
          <a:bodyPr>
            <a:normAutofit/>
          </a:bodyPr>
          <a:lstStyle/>
          <a:p>
            <a:r>
              <a:rPr lang="en-US" sz="2400" dirty="0" smtClean="0"/>
              <a:t>What data does a doctor interact with in a hospital system?</a:t>
            </a:r>
            <a:br>
              <a:rPr lang="en-US" sz="2400" dirty="0" smtClean="0"/>
            </a:br>
            <a:endParaRPr lang="en-US" sz="2400" dirty="0"/>
          </a:p>
        </p:txBody>
      </p:sp>
      <p:sp>
        <p:nvSpPr>
          <p:cNvPr id="3" name="Content Placeholder 2"/>
          <p:cNvSpPr>
            <a:spLocks noGrp="1"/>
          </p:cNvSpPr>
          <p:nvPr>
            <p:ph idx="1"/>
          </p:nvPr>
        </p:nvSpPr>
        <p:spPr/>
        <p:txBody>
          <a:bodyPr>
            <a:normAutofit fontScale="62500" lnSpcReduction="20000"/>
          </a:bodyPr>
          <a:lstStyle/>
          <a:p>
            <a:r>
              <a:rPr lang="en-US" dirty="0" smtClean="0"/>
              <a:t>A doctor interacts with several categories of data across the full patient care cycle:</a:t>
            </a:r>
          </a:p>
          <a:p>
            <a:r>
              <a:rPr lang="en-US" b="1" dirty="0" smtClean="0"/>
              <a:t>Patient information</a:t>
            </a:r>
            <a:r>
              <a:rPr lang="en-US" dirty="0" smtClean="0"/>
              <a:t> The starting point is always the patient record — demographic details (name, age, contact), medical history, allergies, previous diagnoses, and past medications. This context is essential before any consultation.</a:t>
            </a:r>
          </a:p>
          <a:p>
            <a:r>
              <a:rPr lang="en-US" b="1" dirty="0" smtClean="0"/>
              <a:t>Appointments &amp; scheduling</a:t>
            </a:r>
            <a:r>
              <a:rPr lang="en-US" dirty="0" smtClean="0"/>
              <a:t> Doctors see their daily/weekly schedule, including which patients are assigned to them, consultation times, and any follow-up visit requests.</a:t>
            </a:r>
          </a:p>
          <a:p>
            <a:r>
              <a:rPr lang="en-US" b="1" dirty="0" smtClean="0"/>
              <a:t>Clinical / diagnostic data</a:t>
            </a:r>
            <a:r>
              <a:rPr lang="en-US" dirty="0" smtClean="0"/>
              <a:t> This is the core of a doctor's work:</a:t>
            </a:r>
          </a:p>
          <a:p>
            <a:r>
              <a:rPr lang="en-US" dirty="0" smtClean="0"/>
              <a:t>Symptoms and chief complaints recorded during a visit</a:t>
            </a:r>
          </a:p>
          <a:p>
            <a:r>
              <a:rPr lang="en-US" dirty="0" smtClean="0"/>
              <a:t>Physical examination findings they enter into the system</a:t>
            </a:r>
          </a:p>
          <a:p>
            <a:r>
              <a:rPr lang="en-US" dirty="0" smtClean="0"/>
              <a:t>Vital signs (blood pressure, temperature, heart rate, etc.)</a:t>
            </a:r>
          </a:p>
          <a:p>
            <a:r>
              <a:rPr lang="en-US" dirty="0" smtClean="0"/>
              <a:t>Lab test results (blood panels, urine analysis, cultures, etc.)</a:t>
            </a:r>
          </a:p>
          <a:p>
            <a:r>
              <a:rPr lang="en-US" dirty="0" smtClean="0"/>
              <a:t>Radiology and imaging reports (X-rays, MRI, CT scans)</a:t>
            </a:r>
          </a:p>
          <a:p>
            <a:endParaRPr lang="en-US" dirty="0"/>
          </a:p>
        </p:txBody>
      </p:sp>
    </p:spTree>
    <p:extLst>
      <p:ext uri="{BB962C8B-B14F-4D97-AF65-F5344CB8AC3E}">
        <p14:creationId xmlns:p14="http://schemas.microsoft.com/office/powerpoint/2010/main" val="1781500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62500" lnSpcReduction="20000"/>
          </a:bodyPr>
          <a:lstStyle/>
          <a:p>
            <a:r>
              <a:rPr lang="en-US" b="1" dirty="0" smtClean="0"/>
              <a:t>Diagnoses &amp; treatment plans</a:t>
            </a:r>
            <a:r>
              <a:rPr lang="en-US" dirty="0" smtClean="0"/>
              <a:t> Doctors write and read diagnosis codes (often ICD codes in real systems), treatment plans, clinical notes, and follow-up instructions. They may update a patient's condition status as treatment progresses.</a:t>
            </a:r>
          </a:p>
          <a:p>
            <a:r>
              <a:rPr lang="en-US" b="1" dirty="0" smtClean="0"/>
              <a:t>Prescriptions</a:t>
            </a:r>
            <a:r>
              <a:rPr lang="en-US" dirty="0" smtClean="0"/>
              <a:t> Doctors create prescriptions — specifying the drug name, dosage, frequency, and duration. The system may also show them drug interaction warnings or allergy alerts before they </a:t>
            </a:r>
            <a:r>
              <a:rPr lang="en-US" dirty="0" err="1" smtClean="0"/>
              <a:t>finalise</a:t>
            </a:r>
            <a:r>
              <a:rPr lang="en-US" dirty="0" smtClean="0"/>
              <a:t> a prescription.</a:t>
            </a:r>
          </a:p>
          <a:p>
            <a:r>
              <a:rPr lang="en-US" b="1" dirty="0" smtClean="0"/>
              <a:t>Lab &amp; test orders</a:t>
            </a:r>
            <a:r>
              <a:rPr lang="en-US" dirty="0" smtClean="0"/>
              <a:t> Doctors request diagnostic tests (e.g. "order a CBC blood test") and later retrieve the results. The data flows both ways — orders go out, results come back.</a:t>
            </a:r>
          </a:p>
          <a:p>
            <a:r>
              <a:rPr lang="en-US" b="1" dirty="0" smtClean="0"/>
              <a:t>Referrals</a:t>
            </a:r>
            <a:r>
              <a:rPr lang="en-US" dirty="0" smtClean="0"/>
              <a:t> When a doctor refers a patient to a specialist, they interact with referral data — the reason for referral, the receiving doctor, and the urgency level.</a:t>
            </a:r>
          </a:p>
          <a:p>
            <a:r>
              <a:rPr lang="en-US" b="1" dirty="0" smtClean="0"/>
              <a:t>Billing codes</a:t>
            </a:r>
            <a:r>
              <a:rPr lang="en-US" dirty="0" smtClean="0"/>
              <a:t> In many systems, doctors attach procedure codes (CPT codes) to their consultations, which feed directly into the billing process. They don't manage billing themselves, but their entries trigger it.</a:t>
            </a:r>
          </a:p>
          <a:p>
            <a:r>
              <a:rPr lang="en-US" b="1" dirty="0" smtClean="0"/>
              <a:t>In summary</a:t>
            </a:r>
            <a:r>
              <a:rPr lang="en-US" dirty="0" smtClean="0"/>
              <a:t>, a doctor primarily reads patient history and test results, and writes diagnoses, prescriptions, test orders, and clinical notes — all of which then ripple outward to the pharmacy, laboratory, and billing departments</a:t>
            </a:r>
          </a:p>
          <a:p>
            <a:endParaRPr lang="en-US" dirty="0"/>
          </a:p>
        </p:txBody>
      </p:sp>
    </p:spTree>
    <p:extLst>
      <p:ext uri="{BB962C8B-B14F-4D97-AF65-F5344CB8AC3E}">
        <p14:creationId xmlns:p14="http://schemas.microsoft.com/office/powerpoint/2010/main" val="12664401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780</Words>
  <Application>Microsoft Office PowerPoint</Application>
  <PresentationFormat>On-screen Show (4:3)</PresentationFormat>
  <Paragraphs>36</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Create a DFD for a hospital management system. </vt:lpstr>
      <vt:lpstr>Level 0 — Context diagram (the big picture) This is the simplest view. The entire hospital system is one circle in the middle. Outside it are all the people and systems that interact with it (called "external entities"). Arrows show what data passes between them. </vt:lpstr>
      <vt:lpstr>PowerPoint Presentation</vt:lpstr>
      <vt:lpstr>PowerPoint Presentation</vt:lpstr>
      <vt:lpstr>PowerPoint Presentation</vt:lpstr>
      <vt:lpstr>PowerPoint Presentation</vt:lpstr>
      <vt:lpstr>What data does a doctor interact with in a hospital system?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a simple desktop calculator application using a GUI library.</dc:title>
  <dc:creator>admin</dc:creator>
  <cp:lastModifiedBy>admin</cp:lastModifiedBy>
  <cp:revision>2</cp:revision>
  <dcterms:created xsi:type="dcterms:W3CDTF">2026-03-20T15:56:56Z</dcterms:created>
  <dcterms:modified xsi:type="dcterms:W3CDTF">2026-03-20T16:12:39Z</dcterms:modified>
</cp:coreProperties>
</file>