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8FDD693-BBC6-46CA-96B7-60AAD77F7838}"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4215040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FDD693-BBC6-46CA-96B7-60AAD77F7838}"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3454795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FDD693-BBC6-46CA-96B7-60AAD77F7838}"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3355284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8FDD693-BBC6-46CA-96B7-60AAD77F7838}"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321450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FDD693-BBC6-46CA-96B7-60AAD77F7838}" type="datetimeFigureOut">
              <a:rPr lang="en-US" smtClean="0"/>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2510007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FDD693-BBC6-46CA-96B7-60AAD77F7838}" type="datetimeFigureOut">
              <a:rPr lang="en-US" smtClean="0"/>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2261183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FDD693-BBC6-46CA-96B7-60AAD77F7838}" type="datetimeFigureOut">
              <a:rPr lang="en-US" smtClean="0"/>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2790302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FDD693-BBC6-46CA-96B7-60AAD77F7838}"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144313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FDD693-BBC6-46CA-96B7-60AAD77F7838}" type="datetimeFigureOut">
              <a:rPr lang="en-US" smtClean="0"/>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57511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FDD693-BBC6-46CA-96B7-60AAD77F7838}"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3095162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FDD693-BBC6-46CA-96B7-60AAD77F7838}" type="datetimeFigureOut">
              <a:rPr lang="en-US" smtClean="0"/>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717716-0C55-46D9-A2E7-761CF4D18D15}" type="slidenum">
              <a:rPr lang="en-US" smtClean="0"/>
              <a:t>‹#›</a:t>
            </a:fld>
            <a:endParaRPr lang="en-US"/>
          </a:p>
        </p:txBody>
      </p:sp>
    </p:spTree>
    <p:extLst>
      <p:ext uri="{BB962C8B-B14F-4D97-AF65-F5344CB8AC3E}">
        <p14:creationId xmlns:p14="http://schemas.microsoft.com/office/powerpoint/2010/main" val="2478309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FDD693-BBC6-46CA-96B7-60AAD77F7838}" type="datetimeFigureOut">
              <a:rPr lang="en-US" smtClean="0"/>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717716-0C55-46D9-A2E7-761CF4D18D15}" type="slidenum">
              <a:rPr lang="en-US" smtClean="0"/>
              <a:t>‹#›</a:t>
            </a:fld>
            <a:endParaRPr lang="en-US"/>
          </a:p>
        </p:txBody>
      </p:sp>
    </p:spTree>
    <p:extLst>
      <p:ext uri="{BB962C8B-B14F-4D97-AF65-F5344CB8AC3E}">
        <p14:creationId xmlns:p14="http://schemas.microsoft.com/office/powerpoint/2010/main" val="16683176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755775"/>
          </a:xfrm>
        </p:spPr>
        <p:txBody>
          <a:bodyPr>
            <a:normAutofit fontScale="90000"/>
          </a:bodyPr>
          <a:lstStyle/>
          <a:p>
            <a:r>
              <a:rPr lang="en-US" dirty="0" smtClean="0"/>
              <a:t>Document a real-world case where a software application required critical maintenance.</a:t>
            </a:r>
            <a:endParaRPr lang="en-US" dirty="0"/>
          </a:p>
        </p:txBody>
      </p:sp>
    </p:spTree>
    <p:extLst>
      <p:ext uri="{BB962C8B-B14F-4D97-AF65-F5344CB8AC3E}">
        <p14:creationId xmlns:p14="http://schemas.microsoft.com/office/powerpoint/2010/main" val="222907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US" dirty="0"/>
              <a:t>A famous real-world case of critical software maintenance is the </a:t>
            </a:r>
            <a:r>
              <a:rPr lang="en-US" b="1" dirty="0"/>
              <a:t>Knight Capital Group trading glitch</a:t>
            </a:r>
            <a:r>
              <a:rPr lang="en-US" dirty="0"/>
              <a:t> of 2012. In just 45 minutes, a major financial company lost </a:t>
            </a:r>
            <a:r>
              <a:rPr lang="en-US" b="1" dirty="0"/>
              <a:t>$440 million</a:t>
            </a:r>
            <a:r>
              <a:rPr lang="en-US" dirty="0"/>
              <a:t> because of a simple mistake during a software update. </a:t>
            </a:r>
            <a:r>
              <a:rPr lang="en-US" dirty="0" err="1"/>
              <a:t>Bugasura</a:t>
            </a:r>
            <a:r>
              <a:rPr lang="en-US" dirty="0"/>
              <a:t> +2</a:t>
            </a:r>
          </a:p>
          <a:p>
            <a:r>
              <a:rPr lang="en-US" b="1" dirty="0"/>
              <a:t>The Story: The "</a:t>
            </a:r>
            <a:r>
              <a:rPr lang="en-US" b="1" dirty="0" err="1"/>
              <a:t>Knightmare</a:t>
            </a:r>
            <a:r>
              <a:rPr lang="en-US" b="1" dirty="0"/>
              <a:t>" on Wall Street</a:t>
            </a:r>
          </a:p>
          <a:p>
            <a:r>
              <a:rPr lang="en-US" dirty="0"/>
              <a:t>Knight Capital was a company that used powerful computers to buy and sell stocks automatically at lightning speed. On August 1, 2012, they prepared to launch a new system to help them trade better. LinkedIn +1</a:t>
            </a:r>
          </a:p>
          <a:p>
            <a:r>
              <a:rPr lang="en-US" b="1" dirty="0"/>
              <a:t>1. The Human Error (The Setup)</a:t>
            </a:r>
          </a:p>
          <a:p>
            <a:r>
              <a:rPr lang="en-US" dirty="0"/>
              <a:t>To start the new system, technicians had to update eight different "brain" computers (servers). By mistake, they only updated </a:t>
            </a:r>
            <a:r>
              <a:rPr lang="en-US" b="1" dirty="0"/>
              <a:t>seven of the eight</a:t>
            </a:r>
            <a:r>
              <a:rPr lang="en-US" dirty="0"/>
              <a:t> servers. The eighth server was left with a piece of very old, "dead" code that hadn't been used in nearly 10 years. </a:t>
            </a:r>
          </a:p>
          <a:p>
            <a:endParaRPr lang="en-US" dirty="0"/>
          </a:p>
        </p:txBody>
      </p:sp>
    </p:spTree>
    <p:extLst>
      <p:ext uri="{BB962C8B-B14F-4D97-AF65-F5344CB8AC3E}">
        <p14:creationId xmlns:p14="http://schemas.microsoft.com/office/powerpoint/2010/main" val="4196084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6705600"/>
          </a:xfrm>
        </p:spPr>
        <p:txBody>
          <a:bodyPr>
            <a:normAutofit fontScale="70000" lnSpcReduction="20000"/>
          </a:bodyPr>
          <a:lstStyle/>
          <a:p>
            <a:r>
              <a:rPr lang="en-US" b="1" dirty="0"/>
              <a:t>2. The Reactivation (The Trigger)</a:t>
            </a:r>
          </a:p>
          <a:p>
            <a:r>
              <a:rPr lang="en-US" dirty="0"/>
              <a:t>When the markets opened that morning, a special signal was sent to all eight servers to start the new trading logic. LinkedIn</a:t>
            </a:r>
          </a:p>
          <a:p>
            <a:r>
              <a:rPr lang="en-US" b="1" dirty="0"/>
              <a:t>The seven updated servers</a:t>
            </a:r>
            <a:r>
              <a:rPr lang="en-US" dirty="0"/>
              <a:t> understood the signal and worked perfectly.</a:t>
            </a:r>
          </a:p>
          <a:p>
            <a:r>
              <a:rPr lang="en-US" b="1" dirty="0"/>
              <a:t>The eighth server</a:t>
            </a:r>
            <a:r>
              <a:rPr lang="en-US" dirty="0"/>
              <a:t>, still running the old code, misunderstood the signal. It thought the signal meant "Start the old test program". This old program was designed to simulate high-pressure trading for testing purposes—it wasn't supposed to use real money. Medium +1</a:t>
            </a:r>
          </a:p>
          <a:p>
            <a:r>
              <a:rPr lang="en-US" b="1" dirty="0"/>
              <a:t>3. The Financial Chaos (The Cascade)</a:t>
            </a:r>
          </a:p>
          <a:p>
            <a:r>
              <a:rPr lang="en-US" dirty="0"/>
              <a:t>Because the eighth server was using real money to run a "fake" high-speed test, it began buying stocks at high prices and immediately selling them at low prices, losing money on every single trade. It did this thousands of times per second. Medium +1</a:t>
            </a:r>
          </a:p>
          <a:p>
            <a:r>
              <a:rPr lang="en-US" b="1" dirty="0"/>
              <a:t>4. The Critical Maintenance (The Aftermath)</a:t>
            </a:r>
          </a:p>
          <a:p>
            <a:r>
              <a:rPr lang="en-US" dirty="0"/>
              <a:t>The company’s staff was in a meeting when the crisis started and didn't realize what was happening for the first 20 minutes. By the time they identified the "rogue" server and shut it down, the company had lost nearly half a billion dollars—more than it earned in an entire year. The company was so badly damaged that it eventually had to be sold to a competitor</a:t>
            </a:r>
          </a:p>
          <a:p>
            <a:endParaRPr lang="en-US" dirty="0"/>
          </a:p>
        </p:txBody>
      </p:sp>
    </p:spTree>
    <p:extLst>
      <p:ext uri="{BB962C8B-B14F-4D97-AF65-F5344CB8AC3E}">
        <p14:creationId xmlns:p14="http://schemas.microsoft.com/office/powerpoint/2010/main" val="64936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Autofit/>
          </a:bodyPr>
          <a:lstStyle/>
          <a:p>
            <a:pPr marL="0" indent="0">
              <a:buNone/>
            </a:pPr>
            <a:r>
              <a:rPr lang="en-US" sz="2400" b="1" dirty="0" smtClean="0"/>
              <a:t>   Key </a:t>
            </a:r>
            <a:r>
              <a:rPr lang="en-US" sz="2400" b="1" dirty="0"/>
              <a:t>Lessons for Students</a:t>
            </a:r>
          </a:p>
          <a:p>
            <a:r>
              <a:rPr lang="en-US" sz="2400" dirty="0"/>
              <a:t>This case shows why </a:t>
            </a:r>
            <a:r>
              <a:rPr lang="en-US" sz="2400" b="1" dirty="0"/>
              <a:t>software maintenance</a:t>
            </a:r>
            <a:r>
              <a:rPr lang="en-US" sz="2400" dirty="0"/>
              <a:t> is about more than just writing new code; it is about keeping the "house" clean:</a:t>
            </a:r>
          </a:p>
          <a:p>
            <a:r>
              <a:rPr lang="en-US" sz="2400" b="1" dirty="0"/>
              <a:t>Clean up your old code</a:t>
            </a:r>
            <a:r>
              <a:rPr lang="en-US" sz="2400" dirty="0"/>
              <a:t>: If you don't delete old, unused parts of your program (legacy code), they can accidentally "wake up" and cause trouble later.</a:t>
            </a:r>
          </a:p>
          <a:p>
            <a:r>
              <a:rPr lang="en-US" sz="2400" b="1" dirty="0"/>
              <a:t>Double-check everything</a:t>
            </a:r>
            <a:r>
              <a:rPr lang="en-US" sz="2400" dirty="0"/>
              <a:t>: Automated tools should be used to make sure every single computer gets the exact same update.</a:t>
            </a:r>
          </a:p>
          <a:p>
            <a:r>
              <a:rPr lang="en-US" sz="2400" b="1" dirty="0"/>
              <a:t>Have a "Kill Switch"</a:t>
            </a:r>
            <a:r>
              <a:rPr lang="en-US" sz="2400" dirty="0"/>
              <a:t>: Always have a fast way to turn a system off if it starts behaving </a:t>
            </a:r>
            <a:r>
              <a:rPr lang="en-US" sz="2400" dirty="0" smtClean="0"/>
              <a:t>strangely</a:t>
            </a:r>
          </a:p>
          <a:p>
            <a:r>
              <a:rPr lang="en-US" sz="2400" b="1" dirty="0"/>
              <a:t>Answer</a:t>
            </a:r>
            <a:r>
              <a:rPr lang="en-US" sz="2400" dirty="0" smtClean="0"/>
              <a:t/>
            </a:r>
            <a:br>
              <a:rPr lang="en-US" sz="2400" dirty="0" smtClean="0"/>
            </a:br>
            <a:r>
              <a:rPr lang="en-US" sz="2400" dirty="0"/>
              <a:t>The Knight Capital Group incident is a critical maintenance case where a failed software deployment involving an un-updated server and old "dead" code led to a $440 million loss in 45 minutes, ultimately resulting in the company's collapse.</a:t>
            </a:r>
          </a:p>
          <a:p>
            <a:endParaRPr lang="en-US" sz="2400" dirty="0"/>
          </a:p>
        </p:txBody>
      </p:sp>
    </p:spTree>
    <p:extLst>
      <p:ext uri="{BB962C8B-B14F-4D97-AF65-F5344CB8AC3E}">
        <p14:creationId xmlns:p14="http://schemas.microsoft.com/office/powerpoint/2010/main" val="1227181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62</Words>
  <Application>Microsoft Office PowerPoint</Application>
  <PresentationFormat>On-screen Show (4:3)</PresentationFormat>
  <Paragraphs>20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Document a real-world case where a software application required critical maintenance.</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 a real-world case where a software application required critical maintenance.</dc:title>
  <dc:creator>admin</dc:creator>
  <cp:lastModifiedBy>admin</cp:lastModifiedBy>
  <cp:revision>3</cp:revision>
  <dcterms:created xsi:type="dcterms:W3CDTF">2026-03-22T13:09:14Z</dcterms:created>
  <dcterms:modified xsi:type="dcterms:W3CDTF">2026-03-22T13:36:57Z</dcterms:modified>
</cp:coreProperties>
</file>