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5F11234-74AE-4A6A-8B4F-43FE11DD221C}"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758161-273F-424A-AA4C-B672CF220178}" type="slidenum">
              <a:rPr lang="en-US" smtClean="0"/>
              <a:t>‹#›</a:t>
            </a:fld>
            <a:endParaRPr lang="en-US"/>
          </a:p>
        </p:txBody>
      </p:sp>
    </p:spTree>
    <p:extLst>
      <p:ext uri="{BB962C8B-B14F-4D97-AF65-F5344CB8AC3E}">
        <p14:creationId xmlns:p14="http://schemas.microsoft.com/office/powerpoint/2010/main" val="3872169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F11234-74AE-4A6A-8B4F-43FE11DD221C}"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758161-273F-424A-AA4C-B672CF220178}" type="slidenum">
              <a:rPr lang="en-US" smtClean="0"/>
              <a:t>‹#›</a:t>
            </a:fld>
            <a:endParaRPr lang="en-US"/>
          </a:p>
        </p:txBody>
      </p:sp>
    </p:spTree>
    <p:extLst>
      <p:ext uri="{BB962C8B-B14F-4D97-AF65-F5344CB8AC3E}">
        <p14:creationId xmlns:p14="http://schemas.microsoft.com/office/powerpoint/2010/main" val="3828149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5F11234-74AE-4A6A-8B4F-43FE11DD221C}"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758161-273F-424A-AA4C-B672CF220178}" type="slidenum">
              <a:rPr lang="en-US" smtClean="0"/>
              <a:t>‹#›</a:t>
            </a:fld>
            <a:endParaRPr lang="en-US"/>
          </a:p>
        </p:txBody>
      </p:sp>
    </p:spTree>
    <p:extLst>
      <p:ext uri="{BB962C8B-B14F-4D97-AF65-F5344CB8AC3E}">
        <p14:creationId xmlns:p14="http://schemas.microsoft.com/office/powerpoint/2010/main" val="154842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5F11234-74AE-4A6A-8B4F-43FE11DD221C}" type="datetimeFigureOut">
              <a:rPr lang="en-US" smtClean="0"/>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758161-273F-424A-AA4C-B672CF220178}" type="slidenum">
              <a:rPr lang="en-US" smtClean="0"/>
              <a:t>‹#›</a:t>
            </a:fld>
            <a:endParaRPr lang="en-US"/>
          </a:p>
        </p:txBody>
      </p:sp>
    </p:spTree>
    <p:extLst>
      <p:ext uri="{BB962C8B-B14F-4D97-AF65-F5344CB8AC3E}">
        <p14:creationId xmlns:p14="http://schemas.microsoft.com/office/powerpoint/2010/main" val="3965525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5F11234-74AE-4A6A-8B4F-43FE11DD221C}" type="datetimeFigureOut">
              <a:rPr lang="en-US" smtClean="0"/>
              <a:t>3/22/2026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C758161-273F-424A-AA4C-B672CF220178}" type="slidenum">
              <a:rPr lang="en-US" smtClean="0"/>
              <a:t>‹#›</a:t>
            </a:fld>
            <a:endParaRPr lang="en-US"/>
          </a:p>
        </p:txBody>
      </p:sp>
    </p:spTree>
    <p:extLst>
      <p:ext uri="{BB962C8B-B14F-4D97-AF65-F5344CB8AC3E}">
        <p14:creationId xmlns:p14="http://schemas.microsoft.com/office/powerpoint/2010/main" val="1607892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5F11234-74AE-4A6A-8B4F-43FE11DD221C}" type="datetimeFigureOut">
              <a:rPr lang="en-US" smtClean="0"/>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C758161-273F-424A-AA4C-B672CF220178}" type="slidenum">
              <a:rPr lang="en-US" smtClean="0"/>
              <a:t>‹#›</a:t>
            </a:fld>
            <a:endParaRPr lang="en-US"/>
          </a:p>
        </p:txBody>
      </p:sp>
    </p:spTree>
    <p:extLst>
      <p:ext uri="{BB962C8B-B14F-4D97-AF65-F5344CB8AC3E}">
        <p14:creationId xmlns:p14="http://schemas.microsoft.com/office/powerpoint/2010/main" val="3098489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F11234-74AE-4A6A-8B4F-43FE11DD221C}" type="datetimeFigureOut">
              <a:rPr lang="en-US" smtClean="0"/>
              <a:t>3/22/2026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C758161-273F-424A-AA4C-B672CF220178}" type="slidenum">
              <a:rPr lang="en-US" smtClean="0"/>
              <a:t>‹#›</a:t>
            </a:fld>
            <a:endParaRPr lang="en-US"/>
          </a:p>
        </p:txBody>
      </p:sp>
    </p:spTree>
    <p:extLst>
      <p:ext uri="{BB962C8B-B14F-4D97-AF65-F5344CB8AC3E}">
        <p14:creationId xmlns:p14="http://schemas.microsoft.com/office/powerpoint/2010/main" val="1079758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F11234-74AE-4A6A-8B4F-43FE11DD221C}" type="datetimeFigureOut">
              <a:rPr lang="en-US" smtClean="0"/>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758161-273F-424A-AA4C-B672CF220178}" type="slidenum">
              <a:rPr lang="en-US" smtClean="0"/>
              <a:t>‹#›</a:t>
            </a:fld>
            <a:endParaRPr lang="en-US"/>
          </a:p>
        </p:txBody>
      </p:sp>
    </p:spTree>
    <p:extLst>
      <p:ext uri="{BB962C8B-B14F-4D97-AF65-F5344CB8AC3E}">
        <p14:creationId xmlns:p14="http://schemas.microsoft.com/office/powerpoint/2010/main" val="17392393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F11234-74AE-4A6A-8B4F-43FE11DD221C}" type="datetimeFigureOut">
              <a:rPr lang="en-US" smtClean="0"/>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758161-273F-424A-AA4C-B672CF220178}" type="slidenum">
              <a:rPr lang="en-US" smtClean="0"/>
              <a:t>‹#›</a:t>
            </a:fld>
            <a:endParaRPr lang="en-US"/>
          </a:p>
        </p:txBody>
      </p:sp>
    </p:spTree>
    <p:extLst>
      <p:ext uri="{BB962C8B-B14F-4D97-AF65-F5344CB8AC3E}">
        <p14:creationId xmlns:p14="http://schemas.microsoft.com/office/powerpoint/2010/main" val="174842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F11234-74AE-4A6A-8B4F-43FE11DD221C}"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758161-273F-424A-AA4C-B672CF220178}" type="slidenum">
              <a:rPr lang="en-US" smtClean="0"/>
              <a:t>‹#›</a:t>
            </a:fld>
            <a:endParaRPr lang="en-US"/>
          </a:p>
        </p:txBody>
      </p:sp>
    </p:spTree>
    <p:extLst>
      <p:ext uri="{BB962C8B-B14F-4D97-AF65-F5344CB8AC3E}">
        <p14:creationId xmlns:p14="http://schemas.microsoft.com/office/powerpoint/2010/main" val="913733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F11234-74AE-4A6A-8B4F-43FE11DD221C}"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758161-273F-424A-AA4C-B672CF220178}" type="slidenum">
              <a:rPr lang="en-US" smtClean="0"/>
              <a:t>‹#›</a:t>
            </a:fld>
            <a:endParaRPr lang="en-US"/>
          </a:p>
        </p:txBody>
      </p:sp>
    </p:spTree>
    <p:extLst>
      <p:ext uri="{BB962C8B-B14F-4D97-AF65-F5344CB8AC3E}">
        <p14:creationId xmlns:p14="http://schemas.microsoft.com/office/powerpoint/2010/main" val="3213004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F11234-74AE-4A6A-8B4F-43FE11DD221C}" type="datetimeFigureOut">
              <a:rPr lang="en-US" smtClean="0"/>
              <a:t>3/22/2026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758161-273F-424A-AA4C-B672CF220178}" type="slidenum">
              <a:rPr lang="en-US" smtClean="0"/>
              <a:t>‹#›</a:t>
            </a:fld>
            <a:endParaRPr lang="en-US"/>
          </a:p>
        </p:txBody>
      </p:sp>
    </p:spTree>
    <p:extLst>
      <p:ext uri="{BB962C8B-B14F-4D97-AF65-F5344CB8AC3E}">
        <p14:creationId xmlns:p14="http://schemas.microsoft.com/office/powerpoint/2010/main" val="1724321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Perform a functional analysis for an online shopping system. </a:t>
            </a:r>
            <a:endParaRPr lang="en-US" dirty="0"/>
          </a:p>
        </p:txBody>
      </p:sp>
    </p:spTree>
    <p:extLst>
      <p:ext uri="{BB962C8B-B14F-4D97-AF65-F5344CB8AC3E}">
        <p14:creationId xmlns:p14="http://schemas.microsoft.com/office/powerpoint/2010/main" val="3676766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85000" lnSpcReduction="20000"/>
          </a:bodyPr>
          <a:lstStyle/>
          <a:p>
            <a:r>
              <a:rPr lang="en-US" dirty="0"/>
              <a:t>A </a:t>
            </a:r>
            <a:r>
              <a:rPr lang="en-US" b="1" dirty="0"/>
              <a:t>Functional Analysis</a:t>
            </a:r>
            <a:r>
              <a:rPr lang="en-US" dirty="0"/>
              <a:t> for an online shopping system identifies the specific tasks and processes the software must perform to meet user needs. It breaks the system down into "what" it does rather than "how" it's built.</a:t>
            </a:r>
          </a:p>
          <a:p>
            <a:r>
              <a:rPr lang="en-US" dirty="0"/>
              <a:t>Here is the functional breakdown for a standard e-commerce platform:</a:t>
            </a:r>
          </a:p>
          <a:p>
            <a:r>
              <a:rPr lang="en-US" b="1" dirty="0"/>
              <a:t>1. User Management (Account Services)</a:t>
            </a:r>
          </a:p>
          <a:p>
            <a:r>
              <a:rPr lang="en-US" dirty="0"/>
              <a:t>This module handles the identity and personalized experience of the shopper.</a:t>
            </a:r>
          </a:p>
          <a:p>
            <a:r>
              <a:rPr lang="en-US" b="1" dirty="0"/>
              <a:t>Registration &amp; Login:</a:t>
            </a:r>
            <a:r>
              <a:rPr lang="en-US" dirty="0"/>
              <a:t> Users can create accounts, sign in securely, and reset forgotten passwords.</a:t>
            </a:r>
          </a:p>
          <a:p>
            <a:r>
              <a:rPr lang="en-US" b="1" dirty="0"/>
              <a:t>Profile Management:</a:t>
            </a:r>
            <a:r>
              <a:rPr lang="en-US" dirty="0"/>
              <a:t> Users can update their shipping addresses, contact details, and payment preferences.</a:t>
            </a:r>
          </a:p>
          <a:p>
            <a:r>
              <a:rPr lang="en-US" b="1" dirty="0" err="1"/>
              <a:t>Wishlist</a:t>
            </a:r>
            <a:r>
              <a:rPr lang="en-US" b="1" dirty="0"/>
              <a:t>:</a:t>
            </a:r>
            <a:r>
              <a:rPr lang="en-US" dirty="0"/>
              <a:t> The ability to save items for future purchase without adding them to the cart</a:t>
            </a:r>
          </a:p>
          <a:p>
            <a:endParaRPr lang="en-US" dirty="0"/>
          </a:p>
        </p:txBody>
      </p:sp>
    </p:spTree>
    <p:extLst>
      <p:ext uri="{BB962C8B-B14F-4D97-AF65-F5344CB8AC3E}">
        <p14:creationId xmlns:p14="http://schemas.microsoft.com/office/powerpoint/2010/main" val="3213836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5973763"/>
          </a:xfrm>
        </p:spPr>
        <p:txBody>
          <a:bodyPr>
            <a:normAutofit fontScale="77500" lnSpcReduction="20000"/>
          </a:bodyPr>
          <a:lstStyle/>
          <a:p>
            <a:r>
              <a:rPr lang="en-US" b="1" dirty="0"/>
              <a:t>2. Product Catalog Management</a:t>
            </a:r>
          </a:p>
          <a:p>
            <a:r>
              <a:rPr lang="en-US" dirty="0"/>
              <a:t>This is the core "digital storefront" that displays what is for sale.</a:t>
            </a:r>
          </a:p>
          <a:p>
            <a:r>
              <a:rPr lang="en-US" b="1" dirty="0"/>
              <a:t>Browsing &amp; Search:</a:t>
            </a:r>
            <a:r>
              <a:rPr lang="en-US" dirty="0"/>
              <a:t> A functional search bar and category filters (price, brand, size, color) to help users find products.</a:t>
            </a:r>
          </a:p>
          <a:p>
            <a:r>
              <a:rPr lang="en-US" b="1" dirty="0"/>
              <a:t>Product Details:</a:t>
            </a:r>
            <a:r>
              <a:rPr lang="en-US" dirty="0"/>
              <a:t> Displaying high-quality images, descriptions, prices, and customer reviews.</a:t>
            </a:r>
          </a:p>
          <a:p>
            <a:r>
              <a:rPr lang="en-US" b="1" dirty="0"/>
              <a:t>Inventory Tracking:</a:t>
            </a:r>
            <a:r>
              <a:rPr lang="en-US" dirty="0"/>
              <a:t> Real-time updates showing if an item is "In Stock," "Low Stock," or "Out of Stock."</a:t>
            </a:r>
          </a:p>
          <a:p>
            <a:r>
              <a:rPr lang="en-US" b="1" dirty="0"/>
              <a:t>3. Shopping Cart &amp; Checkout</a:t>
            </a:r>
          </a:p>
          <a:p>
            <a:r>
              <a:rPr lang="en-US" dirty="0"/>
              <a:t>This manages the transition from browsing to purchasing.</a:t>
            </a:r>
          </a:p>
          <a:p>
            <a:r>
              <a:rPr lang="en-US" b="1" dirty="0"/>
              <a:t>Cart Management:</a:t>
            </a:r>
            <a:r>
              <a:rPr lang="en-US" dirty="0"/>
              <a:t> Adding, removing, or changing the quantity of items in a virtual basket.</a:t>
            </a:r>
          </a:p>
          <a:p>
            <a:r>
              <a:rPr lang="en-US" b="1" dirty="0"/>
              <a:t>Tax &amp; Shipping Calculation:</a:t>
            </a:r>
            <a:r>
              <a:rPr lang="en-US" dirty="0"/>
              <a:t> Automatically calculating costs based on the user’s location and selected shipping speed.</a:t>
            </a:r>
          </a:p>
          <a:p>
            <a:r>
              <a:rPr lang="en-US" b="1" dirty="0"/>
              <a:t>Promotion Handling:</a:t>
            </a:r>
            <a:r>
              <a:rPr lang="en-US" dirty="0"/>
              <a:t> Applying discount codes or seasonal coupons to the total price.</a:t>
            </a:r>
          </a:p>
          <a:p>
            <a:endParaRPr lang="en-US" dirty="0"/>
          </a:p>
        </p:txBody>
      </p:sp>
    </p:spTree>
    <p:extLst>
      <p:ext uri="{BB962C8B-B14F-4D97-AF65-F5344CB8AC3E}">
        <p14:creationId xmlns:p14="http://schemas.microsoft.com/office/powerpoint/2010/main" val="2021218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897563"/>
          </a:xfrm>
        </p:spPr>
        <p:txBody>
          <a:bodyPr>
            <a:normAutofit fontScale="70000" lnSpcReduction="20000"/>
          </a:bodyPr>
          <a:lstStyle/>
          <a:p>
            <a:pPr marL="0" indent="0">
              <a:buNone/>
            </a:pPr>
            <a:r>
              <a:rPr lang="en-US" b="1" dirty="0" smtClean="0"/>
              <a:t>  4</a:t>
            </a:r>
            <a:r>
              <a:rPr lang="en-US" b="1" dirty="0"/>
              <a:t>. Payment &amp; Order Processing</a:t>
            </a:r>
          </a:p>
          <a:p>
            <a:r>
              <a:rPr lang="en-US" dirty="0"/>
              <a:t>The critical stage of financial transaction and logistical handoff.</a:t>
            </a:r>
          </a:p>
          <a:p>
            <a:r>
              <a:rPr lang="en-US" b="1" dirty="0"/>
              <a:t>Secure Payment:</a:t>
            </a:r>
            <a:r>
              <a:rPr lang="en-US" dirty="0"/>
              <a:t> Processing credit cards, digital wallets (like Apple Pay), or bank transfers via a secure gateway.</a:t>
            </a:r>
          </a:p>
          <a:p>
            <a:r>
              <a:rPr lang="en-US" b="1" dirty="0"/>
              <a:t>Order Confirmation:</a:t>
            </a:r>
            <a:r>
              <a:rPr lang="en-US" dirty="0"/>
              <a:t> Generating a unique order ID and sending an automated receipt via email.</a:t>
            </a:r>
          </a:p>
          <a:p>
            <a:r>
              <a:rPr lang="en-US" b="1" dirty="0"/>
              <a:t>Order Tracking:</a:t>
            </a:r>
            <a:r>
              <a:rPr lang="en-US" dirty="0"/>
              <a:t> Providing updates on the order status (e.g., "Processing," "Shipped," "Out for Delivery</a:t>
            </a:r>
            <a:r>
              <a:rPr lang="en-US" dirty="0" smtClean="0"/>
              <a:t>").</a:t>
            </a:r>
          </a:p>
          <a:p>
            <a:pPr marL="0" indent="0">
              <a:buNone/>
            </a:pPr>
            <a:endParaRPr lang="en-US" dirty="0"/>
          </a:p>
          <a:p>
            <a:r>
              <a:rPr lang="en-US" b="1" dirty="0"/>
              <a:t>5. Administrative (Back-End) Functions</a:t>
            </a:r>
          </a:p>
          <a:p>
            <a:r>
              <a:rPr lang="en-US" dirty="0"/>
              <a:t>Tools for the business owner to run the shop.</a:t>
            </a:r>
          </a:p>
          <a:p>
            <a:r>
              <a:rPr lang="en-US" b="1" dirty="0"/>
              <a:t>Order Fulfillment:</a:t>
            </a:r>
            <a:r>
              <a:rPr lang="en-US" dirty="0"/>
              <a:t> Managing the warehouse workflow to pack and ship orders.</a:t>
            </a:r>
          </a:p>
          <a:p>
            <a:r>
              <a:rPr lang="en-US" b="1" dirty="0"/>
              <a:t>Catalog Updates:</a:t>
            </a:r>
            <a:r>
              <a:rPr lang="en-US" dirty="0"/>
              <a:t> Adding new products, changing prices, or running sales.</a:t>
            </a:r>
          </a:p>
          <a:p>
            <a:r>
              <a:rPr lang="en-US" b="1" dirty="0"/>
              <a:t>Analytics:</a:t>
            </a:r>
            <a:r>
              <a:rPr lang="en-US" dirty="0"/>
              <a:t> Generating reports on top-selling items and daily revenue.</a:t>
            </a:r>
          </a:p>
          <a:p>
            <a:endParaRPr lang="en-US" dirty="0"/>
          </a:p>
        </p:txBody>
      </p:sp>
    </p:spTree>
    <p:extLst>
      <p:ext uri="{BB962C8B-B14F-4D97-AF65-F5344CB8AC3E}">
        <p14:creationId xmlns:p14="http://schemas.microsoft.com/office/powerpoint/2010/main" val="2467379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715000"/>
            <a:ext cx="8229600" cy="1143000"/>
          </a:xfrm>
        </p:spPr>
        <p:txBody>
          <a:bodyPr>
            <a:normAutofit/>
          </a:bodyPr>
          <a:lstStyle/>
          <a:p>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21188466"/>
              </p:ext>
            </p:extLst>
          </p:nvPr>
        </p:nvGraphicFramePr>
        <p:xfrm>
          <a:off x="457200" y="1600200"/>
          <a:ext cx="8229600" cy="2661920"/>
        </p:xfrm>
        <a:graphic>
          <a:graphicData uri="http://schemas.openxmlformats.org/drawingml/2006/table">
            <a:tbl>
              <a:tblPr firstRow="1" bandRow="1">
                <a:tableStyleId>{5C22544A-7EE6-4342-B048-85BDC9FD1C3A}</a:tableStyleId>
              </a:tblPr>
              <a:tblGrid>
                <a:gridCol w="2743200"/>
                <a:gridCol w="2743200"/>
                <a:gridCol w="2743200"/>
              </a:tblGrid>
              <a:tr h="370840">
                <a:tc>
                  <a:txBody>
                    <a:bodyPr/>
                    <a:lstStyle/>
                    <a:p>
                      <a:r>
                        <a:rPr lang="en-US" dirty="0" smtClean="0"/>
                        <a:t>Action</a:t>
                      </a:r>
                      <a:endParaRPr lang="en-US" dirty="0"/>
                    </a:p>
                  </a:txBody>
                  <a:tcPr/>
                </a:tc>
                <a:tc>
                  <a:txBody>
                    <a:bodyPr/>
                    <a:lstStyle/>
                    <a:p>
                      <a:r>
                        <a:rPr lang="en-US" dirty="0" smtClean="0"/>
                        <a:t>Goal</a:t>
                      </a:r>
                      <a:endParaRPr lang="en-US" dirty="0"/>
                    </a:p>
                  </a:txBody>
                  <a:tcPr/>
                </a:tc>
                <a:tc>
                  <a:txBody>
                    <a:bodyPr/>
                    <a:lstStyle/>
                    <a:p>
                      <a:r>
                        <a:rPr lang="en-US" dirty="0" smtClean="0"/>
                        <a:t>Primary Outcome</a:t>
                      </a:r>
                      <a:endParaRPr lang="en-US" dirty="0"/>
                    </a:p>
                  </a:txBody>
                  <a:tcPr/>
                </a:tc>
              </a:tr>
              <a:tr h="370840">
                <a:tc>
                  <a:txBody>
                    <a:bodyPr/>
                    <a:lstStyle/>
                    <a:p>
                      <a:r>
                        <a:rPr lang="en-US" b="1" dirty="0" smtClean="0"/>
                        <a:t>Search</a:t>
                      </a:r>
                      <a:endParaRPr lang="en-US" dirty="0"/>
                    </a:p>
                  </a:txBody>
                  <a:tcPr/>
                </a:tc>
                <a:tc>
                  <a:txBody>
                    <a:bodyPr/>
                    <a:lstStyle/>
                    <a:p>
                      <a:r>
                        <a:rPr lang="en-US" dirty="0" smtClean="0"/>
                        <a:t>Discovery</a:t>
                      </a:r>
                      <a:endParaRPr lang="en-US" dirty="0"/>
                    </a:p>
                  </a:txBody>
                  <a:tcPr/>
                </a:tc>
                <a:tc>
                  <a:txBody>
                    <a:bodyPr/>
                    <a:lstStyle/>
                    <a:p>
                      <a:r>
                        <a:rPr lang="en-US" dirty="0" smtClean="0"/>
                        <a:t>User finds a specific item.</a:t>
                      </a:r>
                      <a:endParaRPr lang="en-US" dirty="0"/>
                    </a:p>
                  </a:txBody>
                  <a:tcPr/>
                </a:tc>
              </a:tr>
              <a:tr h="370840">
                <a:tc>
                  <a:txBody>
                    <a:bodyPr/>
                    <a:lstStyle/>
                    <a:p>
                      <a:r>
                        <a:rPr lang="en-US" b="1" dirty="0" smtClean="0"/>
                        <a:t>Add to Cart</a:t>
                      </a:r>
                      <a:endParaRPr lang="en-US" dirty="0"/>
                    </a:p>
                  </a:txBody>
                  <a:tcPr/>
                </a:tc>
                <a:tc>
                  <a:txBody>
                    <a:bodyPr/>
                    <a:lstStyle/>
                    <a:p>
                      <a:r>
                        <a:rPr lang="en-US" dirty="0" smtClean="0"/>
                        <a:t>Intent</a:t>
                      </a:r>
                      <a:endParaRPr lang="en-US" dirty="0"/>
                    </a:p>
                  </a:txBody>
                  <a:tcPr/>
                </a:tc>
                <a:tc>
                  <a:txBody>
                    <a:bodyPr/>
                    <a:lstStyle/>
                    <a:p>
                      <a:r>
                        <a:rPr lang="en-US" dirty="0" smtClean="0"/>
                        <a:t>Item is reserved for the session.</a:t>
                      </a:r>
                      <a:endParaRPr lang="en-US" dirty="0"/>
                    </a:p>
                  </a:txBody>
                  <a:tcPr/>
                </a:tc>
              </a:tr>
              <a:tr h="370840">
                <a:tc>
                  <a:txBody>
                    <a:bodyPr/>
                    <a:lstStyle/>
                    <a:p>
                      <a:r>
                        <a:rPr lang="en-US" b="1" dirty="0" smtClean="0"/>
                        <a:t>Payment</a:t>
                      </a:r>
                      <a:endParaRPr lang="en-US" dirty="0"/>
                    </a:p>
                  </a:txBody>
                  <a:tcPr/>
                </a:tc>
                <a:tc>
                  <a:txBody>
                    <a:bodyPr/>
                    <a:lstStyle/>
                    <a:p>
                      <a:r>
                        <a:rPr lang="en-US" dirty="0" smtClean="0"/>
                        <a:t>Conversion</a:t>
                      </a:r>
                      <a:endParaRPr lang="en-US" dirty="0"/>
                    </a:p>
                  </a:txBody>
                  <a:tcPr/>
                </a:tc>
                <a:tc>
                  <a:txBody>
                    <a:bodyPr/>
                    <a:lstStyle/>
                    <a:p>
                      <a:r>
                        <a:rPr lang="en-US" dirty="0" smtClean="0"/>
                        <a:t>Money is transferred; order is created.</a:t>
                      </a:r>
                      <a:endParaRPr lang="en-US" dirty="0"/>
                    </a:p>
                  </a:txBody>
                  <a:tcPr/>
                </a:tc>
              </a:tr>
              <a:tr h="370840">
                <a:tc>
                  <a:txBody>
                    <a:bodyPr/>
                    <a:lstStyle/>
                    <a:p>
                      <a:r>
                        <a:rPr lang="en-US" b="1" dirty="0" smtClean="0"/>
                        <a:t>Delivery</a:t>
                      </a:r>
                      <a:endParaRPr lang="en-US" dirty="0"/>
                    </a:p>
                  </a:txBody>
                  <a:tcPr/>
                </a:tc>
                <a:tc>
                  <a:txBody>
                    <a:bodyPr/>
                    <a:lstStyle/>
                    <a:p>
                      <a:r>
                        <a:rPr lang="en-US" dirty="0" smtClean="0"/>
                        <a:t>Completion</a:t>
                      </a:r>
                      <a:endParaRPr lang="en-US" dirty="0"/>
                    </a:p>
                  </a:txBody>
                  <a:tcPr/>
                </a:tc>
                <a:tc>
                  <a:txBody>
                    <a:bodyPr/>
                    <a:lstStyle/>
                    <a:p>
                      <a:r>
                        <a:rPr lang="en-US" dirty="0" smtClean="0"/>
                        <a:t>Physical product reaches the customer</a:t>
                      </a:r>
                      <a:endParaRPr lang="en-US" dirty="0"/>
                    </a:p>
                  </a:txBody>
                  <a:tcPr/>
                </a:tc>
              </a:tr>
            </a:tbl>
          </a:graphicData>
        </a:graphic>
      </p:graphicFrame>
    </p:spTree>
    <p:extLst>
      <p:ext uri="{BB962C8B-B14F-4D97-AF65-F5344CB8AC3E}">
        <p14:creationId xmlns:p14="http://schemas.microsoft.com/office/powerpoint/2010/main" val="22360567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95</Words>
  <Application>Microsoft Office PowerPoint</Application>
  <PresentationFormat>On-screen Show (4:3)</PresentationFormat>
  <Paragraphs>44</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Perform a functional analysis for an online shopping system.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Perform a functional analysis for an online shopping system.</dc:title>
  <dc:creator>admin</dc:creator>
  <cp:lastModifiedBy>admin</cp:lastModifiedBy>
  <cp:revision>2</cp:revision>
  <dcterms:created xsi:type="dcterms:W3CDTF">2026-03-22T07:50:16Z</dcterms:created>
  <dcterms:modified xsi:type="dcterms:W3CDTF">2026-03-22T08:03:12Z</dcterms:modified>
</cp:coreProperties>
</file>