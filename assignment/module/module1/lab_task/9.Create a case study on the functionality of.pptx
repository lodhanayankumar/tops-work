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B76E373-90EA-482D-8BAB-00C0F2A6B2DC}"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6C730C-1C48-4C60-B716-B46E35E86D28}" type="slidenum">
              <a:rPr lang="en-US" smtClean="0"/>
              <a:t>‹#›</a:t>
            </a:fld>
            <a:endParaRPr lang="en-US"/>
          </a:p>
        </p:txBody>
      </p:sp>
    </p:spTree>
    <p:extLst>
      <p:ext uri="{BB962C8B-B14F-4D97-AF65-F5344CB8AC3E}">
        <p14:creationId xmlns:p14="http://schemas.microsoft.com/office/powerpoint/2010/main" val="120936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B76E373-90EA-482D-8BAB-00C0F2A6B2DC}"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6C730C-1C48-4C60-B716-B46E35E86D28}" type="slidenum">
              <a:rPr lang="en-US" smtClean="0"/>
              <a:t>‹#›</a:t>
            </a:fld>
            <a:endParaRPr lang="en-US"/>
          </a:p>
        </p:txBody>
      </p:sp>
    </p:spTree>
    <p:extLst>
      <p:ext uri="{BB962C8B-B14F-4D97-AF65-F5344CB8AC3E}">
        <p14:creationId xmlns:p14="http://schemas.microsoft.com/office/powerpoint/2010/main" val="3558719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B76E373-90EA-482D-8BAB-00C0F2A6B2DC}"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6C730C-1C48-4C60-B716-B46E35E86D28}" type="slidenum">
              <a:rPr lang="en-US" smtClean="0"/>
              <a:t>‹#›</a:t>
            </a:fld>
            <a:endParaRPr lang="en-US"/>
          </a:p>
        </p:txBody>
      </p:sp>
    </p:spTree>
    <p:extLst>
      <p:ext uri="{BB962C8B-B14F-4D97-AF65-F5344CB8AC3E}">
        <p14:creationId xmlns:p14="http://schemas.microsoft.com/office/powerpoint/2010/main" val="3585103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B76E373-90EA-482D-8BAB-00C0F2A6B2DC}"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6C730C-1C48-4C60-B716-B46E35E86D28}" type="slidenum">
              <a:rPr lang="en-US" smtClean="0"/>
              <a:t>‹#›</a:t>
            </a:fld>
            <a:endParaRPr lang="en-US"/>
          </a:p>
        </p:txBody>
      </p:sp>
    </p:spTree>
    <p:extLst>
      <p:ext uri="{BB962C8B-B14F-4D97-AF65-F5344CB8AC3E}">
        <p14:creationId xmlns:p14="http://schemas.microsoft.com/office/powerpoint/2010/main" val="1602091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B76E373-90EA-482D-8BAB-00C0F2A6B2DC}" type="datetimeFigureOut">
              <a:rPr lang="en-US" smtClean="0"/>
              <a:t>3/21/2026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86C730C-1C48-4C60-B716-B46E35E86D28}" type="slidenum">
              <a:rPr lang="en-US" smtClean="0"/>
              <a:t>‹#›</a:t>
            </a:fld>
            <a:endParaRPr lang="en-US"/>
          </a:p>
        </p:txBody>
      </p:sp>
    </p:spTree>
    <p:extLst>
      <p:ext uri="{BB962C8B-B14F-4D97-AF65-F5344CB8AC3E}">
        <p14:creationId xmlns:p14="http://schemas.microsoft.com/office/powerpoint/2010/main" val="2850738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B76E373-90EA-482D-8BAB-00C0F2A6B2DC}" type="datetimeFigureOut">
              <a:rPr lang="en-US" smtClean="0"/>
              <a:t>3/21/2026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6C730C-1C48-4C60-B716-B46E35E86D28}" type="slidenum">
              <a:rPr lang="en-US" smtClean="0"/>
              <a:t>‹#›</a:t>
            </a:fld>
            <a:endParaRPr lang="en-US"/>
          </a:p>
        </p:txBody>
      </p:sp>
    </p:spTree>
    <p:extLst>
      <p:ext uri="{BB962C8B-B14F-4D97-AF65-F5344CB8AC3E}">
        <p14:creationId xmlns:p14="http://schemas.microsoft.com/office/powerpoint/2010/main" val="172115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76E373-90EA-482D-8BAB-00C0F2A6B2DC}" type="datetimeFigureOut">
              <a:rPr lang="en-US" smtClean="0"/>
              <a:t>3/21/2026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86C730C-1C48-4C60-B716-B46E35E86D28}" type="slidenum">
              <a:rPr lang="en-US" smtClean="0"/>
              <a:t>‹#›</a:t>
            </a:fld>
            <a:endParaRPr lang="en-US"/>
          </a:p>
        </p:txBody>
      </p:sp>
    </p:spTree>
    <p:extLst>
      <p:ext uri="{BB962C8B-B14F-4D97-AF65-F5344CB8AC3E}">
        <p14:creationId xmlns:p14="http://schemas.microsoft.com/office/powerpoint/2010/main" val="4124434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B76E373-90EA-482D-8BAB-00C0F2A6B2DC}"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6C730C-1C48-4C60-B716-B46E35E86D28}" type="slidenum">
              <a:rPr lang="en-US" smtClean="0"/>
              <a:t>‹#›</a:t>
            </a:fld>
            <a:endParaRPr lang="en-US"/>
          </a:p>
        </p:txBody>
      </p:sp>
    </p:spTree>
    <p:extLst>
      <p:ext uri="{BB962C8B-B14F-4D97-AF65-F5344CB8AC3E}">
        <p14:creationId xmlns:p14="http://schemas.microsoft.com/office/powerpoint/2010/main" val="933112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B76E373-90EA-482D-8BAB-00C0F2A6B2DC}"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6C730C-1C48-4C60-B716-B46E35E86D28}" type="slidenum">
              <a:rPr lang="en-US" smtClean="0"/>
              <a:t>‹#›</a:t>
            </a:fld>
            <a:endParaRPr lang="en-US"/>
          </a:p>
        </p:txBody>
      </p:sp>
    </p:spTree>
    <p:extLst>
      <p:ext uri="{BB962C8B-B14F-4D97-AF65-F5344CB8AC3E}">
        <p14:creationId xmlns:p14="http://schemas.microsoft.com/office/powerpoint/2010/main" val="1701403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B76E373-90EA-482D-8BAB-00C0F2A6B2DC}"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6C730C-1C48-4C60-B716-B46E35E86D28}" type="slidenum">
              <a:rPr lang="en-US" smtClean="0"/>
              <a:t>‹#›</a:t>
            </a:fld>
            <a:endParaRPr lang="en-US"/>
          </a:p>
        </p:txBody>
      </p:sp>
    </p:spTree>
    <p:extLst>
      <p:ext uri="{BB962C8B-B14F-4D97-AF65-F5344CB8AC3E}">
        <p14:creationId xmlns:p14="http://schemas.microsoft.com/office/powerpoint/2010/main" val="2507749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B76E373-90EA-482D-8BAB-00C0F2A6B2DC}"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6C730C-1C48-4C60-B716-B46E35E86D28}" type="slidenum">
              <a:rPr lang="en-US" smtClean="0"/>
              <a:t>‹#›</a:t>
            </a:fld>
            <a:endParaRPr lang="en-US"/>
          </a:p>
        </p:txBody>
      </p:sp>
    </p:spTree>
    <p:extLst>
      <p:ext uri="{BB962C8B-B14F-4D97-AF65-F5344CB8AC3E}">
        <p14:creationId xmlns:p14="http://schemas.microsoft.com/office/powerpoint/2010/main" val="2965725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76E373-90EA-482D-8BAB-00C0F2A6B2DC}" type="datetimeFigureOut">
              <a:rPr lang="en-US" smtClean="0"/>
              <a:t>3/21/2026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6C730C-1C48-4C60-B716-B46E35E86D28}" type="slidenum">
              <a:rPr lang="en-US" smtClean="0"/>
              <a:t>‹#›</a:t>
            </a:fld>
            <a:endParaRPr lang="en-US"/>
          </a:p>
        </p:txBody>
      </p:sp>
    </p:spTree>
    <p:extLst>
      <p:ext uri="{BB962C8B-B14F-4D97-AF65-F5344CB8AC3E}">
        <p14:creationId xmlns:p14="http://schemas.microsoft.com/office/powerpoint/2010/main" val="8047617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2517775"/>
          </a:xfrm>
        </p:spPr>
        <p:txBody>
          <a:bodyPr>
            <a:normAutofit fontScale="90000"/>
          </a:bodyPr>
          <a:lstStyle/>
          <a:p>
            <a:r>
              <a:rPr lang="en-US" dirty="0" smtClean="0"/>
              <a:t>Create a case study on the functionality of the presentation, business logic, and data access layers of a given software system.</a:t>
            </a:r>
            <a:endParaRPr lang="en-US" dirty="0"/>
          </a:p>
        </p:txBody>
      </p:sp>
    </p:spTree>
    <p:extLst>
      <p:ext uri="{BB962C8B-B14F-4D97-AF65-F5344CB8AC3E}">
        <p14:creationId xmlns:p14="http://schemas.microsoft.com/office/powerpoint/2010/main" val="1766084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normAutofit fontScale="77500" lnSpcReduction="20000"/>
          </a:bodyPr>
          <a:lstStyle/>
          <a:p>
            <a:r>
              <a:rPr lang="en-US" dirty="0"/>
              <a:t>To illustrate how these layers work in harmony, let’s look at a </a:t>
            </a:r>
            <a:r>
              <a:rPr lang="en-US" b="1" dirty="0"/>
              <a:t>Case Study of an E-commerce Checkout System</a:t>
            </a:r>
            <a:r>
              <a:rPr lang="en-US" dirty="0"/>
              <a:t> (like Amazon or </a:t>
            </a:r>
            <a:r>
              <a:rPr lang="en-US" dirty="0" err="1"/>
              <a:t>Flipkart</a:t>
            </a:r>
            <a:r>
              <a:rPr lang="en-US" dirty="0"/>
              <a:t>).</a:t>
            </a:r>
          </a:p>
          <a:p>
            <a:r>
              <a:rPr lang="en-US" b="1" dirty="0"/>
              <a:t>Case Study: The "Complete Purchase" Workflow</a:t>
            </a:r>
          </a:p>
          <a:p>
            <a:r>
              <a:rPr lang="en-US" b="1" dirty="0"/>
              <a:t>1. The Presentation Layer (The Interface)</a:t>
            </a:r>
          </a:p>
          <a:p>
            <a:r>
              <a:rPr lang="en-US" b="1" dirty="0"/>
              <a:t>Role</a:t>
            </a:r>
            <a:r>
              <a:rPr lang="en-US" dirty="0"/>
              <a:t>: Handles user interaction and displays information.</a:t>
            </a:r>
          </a:p>
          <a:p>
            <a:r>
              <a:rPr lang="en-US" b="1" dirty="0"/>
              <a:t>Functionality</a:t>
            </a:r>
            <a:r>
              <a:rPr lang="en-US" dirty="0"/>
              <a:t>: This is the webpage or mobile app the customer sees. When a user clicks "Place Order," this layer captures the click, performs simple "sanity checks" (like ensuring the address field isn't empty), and sends a structured </a:t>
            </a:r>
            <a:r>
              <a:rPr lang="en-US" b="1" dirty="0"/>
              <a:t>HTTP request</a:t>
            </a:r>
            <a:r>
              <a:rPr lang="en-US" dirty="0"/>
              <a:t> to the server.</a:t>
            </a:r>
          </a:p>
          <a:p>
            <a:r>
              <a:rPr lang="en-US" b="1" dirty="0"/>
              <a:t>Example</a:t>
            </a:r>
            <a:r>
              <a:rPr lang="en-US" dirty="0"/>
              <a:t>: The browser displays a "Processing..." spinner to the user while waiting for the next layer to respond.</a:t>
            </a:r>
          </a:p>
          <a:p>
            <a:endParaRPr lang="en-US" dirty="0"/>
          </a:p>
        </p:txBody>
      </p:sp>
    </p:spTree>
    <p:extLst>
      <p:ext uri="{BB962C8B-B14F-4D97-AF65-F5344CB8AC3E}">
        <p14:creationId xmlns:p14="http://schemas.microsoft.com/office/powerpoint/2010/main" val="2136315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fontScale="92500" lnSpcReduction="20000"/>
          </a:bodyPr>
          <a:lstStyle/>
          <a:p>
            <a:r>
              <a:rPr lang="en-US" b="1" dirty="0"/>
              <a:t>2. The Business Logic Layer (The Brain)</a:t>
            </a:r>
          </a:p>
          <a:p>
            <a:r>
              <a:rPr lang="en-US" b="1" dirty="0"/>
              <a:t>Role</a:t>
            </a:r>
            <a:r>
              <a:rPr lang="en-US" dirty="0"/>
              <a:t>: Processes data based on specific company rules.</a:t>
            </a:r>
          </a:p>
          <a:p>
            <a:r>
              <a:rPr lang="en-US" b="1" dirty="0"/>
              <a:t>Functionality</a:t>
            </a:r>
            <a:r>
              <a:rPr lang="en-US" dirty="0"/>
              <a:t>: This layer receives the "Place Order" command. It doesn't just save data; it makes decisions. It calculates the final price with taxes, validates if a discount code is expired, checks if the items are still in stock, and communicates with a payment gateway (like Stripe or PayPal).</a:t>
            </a:r>
          </a:p>
          <a:p>
            <a:r>
              <a:rPr lang="en-US" b="1" dirty="0"/>
              <a:t>Example</a:t>
            </a:r>
            <a:r>
              <a:rPr lang="en-US" dirty="0"/>
              <a:t>: If the logic determines the user has a "Gold Membership," it automatically subtracts the shipping fee before moving to the next step.</a:t>
            </a:r>
          </a:p>
          <a:p>
            <a:endParaRPr lang="en-US" dirty="0"/>
          </a:p>
        </p:txBody>
      </p:sp>
    </p:spTree>
    <p:extLst>
      <p:ext uri="{BB962C8B-B14F-4D97-AF65-F5344CB8AC3E}">
        <p14:creationId xmlns:p14="http://schemas.microsoft.com/office/powerpoint/2010/main" val="823875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fontScale="92500" lnSpcReduction="20000"/>
          </a:bodyPr>
          <a:lstStyle/>
          <a:p>
            <a:r>
              <a:rPr lang="en-US" b="1" dirty="0"/>
              <a:t>3. The Data Access Layer (The Librarian)</a:t>
            </a:r>
          </a:p>
          <a:p>
            <a:r>
              <a:rPr lang="en-US" b="1" dirty="0"/>
              <a:t>Role</a:t>
            </a:r>
            <a:r>
              <a:rPr lang="en-US" dirty="0"/>
              <a:t>: Manages the storage and retrieval of information.</a:t>
            </a:r>
          </a:p>
          <a:p>
            <a:r>
              <a:rPr lang="en-US" b="1" dirty="0"/>
              <a:t>Functionality</a:t>
            </a:r>
            <a:r>
              <a:rPr lang="en-US" dirty="0"/>
              <a:t>: This layer doesn't care about "Gold Memberships" or "Taxes." It only understands how to talk to the database. Once the Business Logic Layer approves the order, it tells the Data Access Layer to "Save Order #12345." This layer writes the record to the disk and updates the inventory count.</a:t>
            </a:r>
          </a:p>
          <a:p>
            <a:r>
              <a:rPr lang="en-US" b="1" dirty="0"/>
              <a:t>Example</a:t>
            </a:r>
            <a:r>
              <a:rPr lang="en-US" dirty="0"/>
              <a:t>: It executes a specialized command (SQL) like UPDATE Inventory SET stock = stock - 1 WHERE </a:t>
            </a:r>
            <a:r>
              <a:rPr lang="en-US" dirty="0" err="1"/>
              <a:t>item_id</a:t>
            </a:r>
            <a:r>
              <a:rPr lang="en-US" dirty="0"/>
              <a:t> = 505.</a:t>
            </a:r>
          </a:p>
          <a:p>
            <a:endParaRPr lang="en-US" dirty="0"/>
          </a:p>
        </p:txBody>
      </p:sp>
    </p:spTree>
    <p:extLst>
      <p:ext uri="{BB962C8B-B14F-4D97-AF65-F5344CB8AC3E}">
        <p14:creationId xmlns:p14="http://schemas.microsoft.com/office/powerpoint/2010/main" val="602946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Layer Interaction Summary</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93231262"/>
              </p:ext>
            </p:extLst>
          </p:nvPr>
        </p:nvGraphicFramePr>
        <p:xfrm>
          <a:off x="457200" y="1600200"/>
          <a:ext cx="8229600" cy="2291080"/>
        </p:xfrm>
        <a:graphic>
          <a:graphicData uri="http://schemas.openxmlformats.org/drawingml/2006/table">
            <a:tbl>
              <a:tblPr firstRow="1" bandRow="1">
                <a:tableStyleId>{5C22544A-7EE6-4342-B048-85BDC9FD1C3A}</a:tableStyleId>
              </a:tblPr>
              <a:tblGrid>
                <a:gridCol w="2057400"/>
                <a:gridCol w="2057400"/>
                <a:gridCol w="2057400"/>
                <a:gridCol w="2057400"/>
              </a:tblGrid>
              <a:tr h="370840">
                <a:tc>
                  <a:txBody>
                    <a:bodyPr/>
                    <a:lstStyle/>
                    <a:p>
                      <a:r>
                        <a:rPr lang="en-US" sz="1800" b="1" i="0" kern="1200" dirty="0" smtClean="0">
                          <a:solidFill>
                            <a:schemeClr val="lt1"/>
                          </a:solidFill>
                          <a:effectLst/>
                          <a:latin typeface="+mn-lt"/>
                          <a:ea typeface="+mn-ea"/>
                          <a:cs typeface="+mn-cs"/>
                        </a:rPr>
                        <a:t>Layer</a:t>
                      </a:r>
                      <a:endParaRPr lang="en-US" dirty="0"/>
                    </a:p>
                  </a:txBody>
                  <a:tcPr/>
                </a:tc>
                <a:tc>
                  <a:txBody>
                    <a:bodyPr/>
                    <a:lstStyle/>
                    <a:p>
                      <a:r>
                        <a:rPr lang="en-US" sz="1800" b="1" i="0" kern="1200" dirty="0" smtClean="0">
                          <a:solidFill>
                            <a:schemeClr val="lt1"/>
                          </a:solidFill>
                          <a:effectLst/>
                          <a:latin typeface="+mn-lt"/>
                          <a:ea typeface="+mn-ea"/>
                          <a:cs typeface="+mn-cs"/>
                        </a:rPr>
                        <a:t>Responsibility</a:t>
                      </a:r>
                      <a:endParaRPr lang="en-US" dirty="0"/>
                    </a:p>
                  </a:txBody>
                  <a:tcPr/>
                </a:tc>
                <a:tc>
                  <a:txBody>
                    <a:bodyPr/>
                    <a:lstStyle/>
                    <a:p>
                      <a:r>
                        <a:rPr lang="en-US" dirty="0" smtClean="0"/>
                        <a:t>input</a:t>
                      </a:r>
                      <a:endParaRPr lang="en-US" dirty="0"/>
                    </a:p>
                  </a:txBody>
                  <a:tcPr/>
                </a:tc>
                <a:tc>
                  <a:txBody>
                    <a:bodyPr/>
                    <a:lstStyle/>
                    <a:p>
                      <a:r>
                        <a:rPr lang="en-US" dirty="0" smtClean="0"/>
                        <a:t>output</a:t>
                      </a:r>
                      <a:endParaRPr lang="en-US" dirty="0"/>
                    </a:p>
                  </a:txBody>
                  <a:tcPr/>
                </a:tc>
              </a:tr>
              <a:tr h="370840">
                <a:tc>
                  <a:txBody>
                    <a:bodyPr/>
                    <a:lstStyle/>
                    <a:p>
                      <a:r>
                        <a:rPr lang="en-US" sz="1800" b="1" i="0" kern="1200" dirty="0" smtClean="0">
                          <a:solidFill>
                            <a:schemeClr val="dk1"/>
                          </a:solidFill>
                          <a:effectLst/>
                          <a:latin typeface="+mn-lt"/>
                          <a:ea typeface="+mn-ea"/>
                          <a:cs typeface="+mn-cs"/>
                        </a:rPr>
                        <a:t>Responsibility</a:t>
                      </a:r>
                      <a:endParaRPr lang="en-US" dirty="0"/>
                    </a:p>
                  </a:txBody>
                  <a:tcPr/>
                </a:tc>
                <a:tc>
                  <a:txBody>
                    <a:bodyPr/>
                    <a:lstStyle/>
                    <a:p>
                      <a:r>
                        <a:rPr lang="en-US" sz="1800" b="0" i="0" kern="1200" dirty="0" smtClean="0">
                          <a:solidFill>
                            <a:schemeClr val="dk1"/>
                          </a:solidFill>
                          <a:effectLst/>
                          <a:latin typeface="+mn-lt"/>
                          <a:ea typeface="+mn-ea"/>
                          <a:cs typeface="+mn-cs"/>
                        </a:rPr>
                        <a:t>User Experience</a:t>
                      </a:r>
                      <a:endParaRPr lang="en-US" dirty="0"/>
                    </a:p>
                  </a:txBody>
                  <a:tcPr/>
                </a:tc>
                <a:tc>
                  <a:txBody>
                    <a:bodyPr/>
                    <a:lstStyle/>
                    <a:p>
                      <a:r>
                        <a:rPr lang="en-US" sz="1800" b="0" i="0" kern="1200" dirty="0" smtClean="0">
                          <a:solidFill>
                            <a:schemeClr val="dk1"/>
                          </a:solidFill>
                          <a:effectLst/>
                          <a:latin typeface="+mn-lt"/>
                          <a:ea typeface="+mn-ea"/>
                          <a:cs typeface="+mn-cs"/>
                        </a:rPr>
                        <a:t>Button Clicks / Form Data</a:t>
                      </a:r>
                      <a:endParaRPr lang="en-US" dirty="0"/>
                    </a:p>
                  </a:txBody>
                  <a:tcPr/>
                </a:tc>
                <a:tc>
                  <a:txBody>
                    <a:bodyPr/>
                    <a:lstStyle/>
                    <a:p>
                      <a:r>
                        <a:rPr lang="en-US" sz="1800" b="0" i="0" kern="1200" dirty="0" smtClean="0">
                          <a:solidFill>
                            <a:schemeClr val="dk1"/>
                          </a:solidFill>
                          <a:effectLst/>
                          <a:latin typeface="+mn-lt"/>
                          <a:ea typeface="+mn-ea"/>
                          <a:cs typeface="+mn-cs"/>
                        </a:rPr>
                        <a:t>API Request</a:t>
                      </a:r>
                      <a:endParaRPr lang="en-US" dirty="0"/>
                    </a:p>
                  </a:txBody>
                  <a:tcPr/>
                </a:tc>
              </a:tr>
              <a:tr h="370840">
                <a:tc>
                  <a:txBody>
                    <a:bodyPr/>
                    <a:lstStyle/>
                    <a:p>
                      <a:r>
                        <a:rPr lang="en-US" sz="1800" b="1" i="0" kern="1200" dirty="0" smtClean="0">
                          <a:solidFill>
                            <a:schemeClr val="dk1"/>
                          </a:solidFill>
                          <a:effectLst/>
                          <a:latin typeface="+mn-lt"/>
                          <a:ea typeface="+mn-ea"/>
                          <a:cs typeface="+mn-cs"/>
                        </a:rPr>
                        <a:t>Business Logic</a:t>
                      </a:r>
                      <a:endParaRPr lang="en-US" dirty="0"/>
                    </a:p>
                  </a:txBody>
                  <a:tcPr/>
                </a:tc>
                <a:tc>
                  <a:txBody>
                    <a:bodyPr/>
                    <a:lstStyle/>
                    <a:p>
                      <a:r>
                        <a:rPr lang="en-US" sz="1800" b="0" i="0" kern="1200" dirty="0" smtClean="0">
                          <a:solidFill>
                            <a:schemeClr val="dk1"/>
                          </a:solidFill>
                          <a:effectLst/>
                          <a:latin typeface="+mn-lt"/>
                          <a:ea typeface="+mn-ea"/>
                          <a:cs typeface="+mn-cs"/>
                        </a:rPr>
                        <a:t>Decision Making</a:t>
                      </a:r>
                      <a:endParaRPr lang="en-US" dirty="0"/>
                    </a:p>
                  </a:txBody>
                  <a:tcPr/>
                </a:tc>
                <a:tc>
                  <a:txBody>
                    <a:bodyPr/>
                    <a:lstStyle/>
                    <a:p>
                      <a:r>
                        <a:rPr lang="en-US" sz="1800" b="0" i="0" kern="1200" dirty="0" smtClean="0">
                          <a:solidFill>
                            <a:schemeClr val="dk1"/>
                          </a:solidFill>
                          <a:effectLst/>
                          <a:latin typeface="+mn-lt"/>
                          <a:ea typeface="+mn-ea"/>
                          <a:cs typeface="+mn-cs"/>
                        </a:rPr>
                        <a:t>Raw Order Data</a:t>
                      </a:r>
                      <a:endParaRPr lang="en-US" dirty="0"/>
                    </a:p>
                  </a:txBody>
                  <a:tcPr/>
                </a:tc>
                <a:tc>
                  <a:txBody>
                    <a:bodyPr/>
                    <a:lstStyle/>
                    <a:p>
                      <a:r>
                        <a:rPr lang="en-US" smtClean="0"/>
                        <a:t>Validated instruction</a:t>
                      </a:r>
                      <a:endParaRPr lang="en-US" dirty="0"/>
                    </a:p>
                  </a:txBody>
                  <a:tcPr/>
                </a:tc>
              </a:tr>
              <a:tr h="370840">
                <a:tc>
                  <a:txBody>
                    <a:bodyPr/>
                    <a:lstStyle/>
                    <a:p>
                      <a:r>
                        <a:rPr lang="en-US" sz="1800" b="1" i="0" kern="1200" dirty="0" smtClean="0">
                          <a:solidFill>
                            <a:schemeClr val="dk1"/>
                          </a:solidFill>
                          <a:effectLst/>
                          <a:latin typeface="+mn-lt"/>
                          <a:ea typeface="+mn-ea"/>
                          <a:cs typeface="+mn-cs"/>
                        </a:rPr>
                        <a:t>Data Access</a:t>
                      </a:r>
                      <a:endParaRPr lang="en-US" dirty="0"/>
                    </a:p>
                  </a:txBody>
                  <a:tcPr/>
                </a:tc>
                <a:tc>
                  <a:txBody>
                    <a:bodyPr/>
                    <a:lstStyle/>
                    <a:p>
                      <a:r>
                        <a:rPr lang="en-US" sz="1800" b="0" i="0" kern="1200" dirty="0" smtClean="0">
                          <a:solidFill>
                            <a:schemeClr val="dk1"/>
                          </a:solidFill>
                          <a:effectLst/>
                          <a:latin typeface="+mn-lt"/>
                          <a:ea typeface="+mn-ea"/>
                          <a:cs typeface="+mn-cs"/>
                        </a:rPr>
                        <a:t>Storage/Persistence</a:t>
                      </a:r>
                      <a:endParaRPr lang="en-US" dirty="0"/>
                    </a:p>
                  </a:txBody>
                  <a:tcPr/>
                </a:tc>
                <a:tc>
                  <a:txBody>
                    <a:bodyPr/>
                    <a:lstStyle/>
                    <a:p>
                      <a:r>
                        <a:rPr lang="en-US" sz="1800" b="0" i="0" kern="1200" dirty="0" smtClean="0">
                          <a:solidFill>
                            <a:schemeClr val="dk1"/>
                          </a:solidFill>
                          <a:effectLst/>
                          <a:latin typeface="+mn-lt"/>
                          <a:ea typeface="+mn-ea"/>
                          <a:cs typeface="+mn-cs"/>
                        </a:rPr>
                        <a:t>Validated Instructions</a:t>
                      </a:r>
                      <a:endParaRPr lang="en-US" dirty="0"/>
                    </a:p>
                  </a:txBody>
                  <a:tcPr/>
                </a:tc>
                <a:tc>
                  <a:txBody>
                    <a:bodyPr/>
                    <a:lstStyle/>
                    <a:p>
                      <a:r>
                        <a:rPr lang="en-US" sz="1800" b="0" i="0" kern="1200" dirty="0" smtClean="0">
                          <a:solidFill>
                            <a:schemeClr val="dk1"/>
                          </a:solidFill>
                          <a:effectLst/>
                          <a:latin typeface="+mn-lt"/>
                          <a:ea typeface="+mn-ea"/>
                          <a:cs typeface="+mn-cs"/>
                        </a:rPr>
                        <a:t>Database Updates</a:t>
                      </a:r>
                      <a:endParaRPr lang="en-US" dirty="0"/>
                    </a:p>
                  </a:txBody>
                  <a:tcPr/>
                </a:tc>
              </a:tr>
            </a:tbl>
          </a:graphicData>
        </a:graphic>
      </p:graphicFrame>
    </p:spTree>
    <p:extLst>
      <p:ext uri="{BB962C8B-B14F-4D97-AF65-F5344CB8AC3E}">
        <p14:creationId xmlns:p14="http://schemas.microsoft.com/office/powerpoint/2010/main" val="35053113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268</Words>
  <Application>Microsoft Office PowerPoint</Application>
  <PresentationFormat>On-screen Show (4:3)</PresentationFormat>
  <Paragraphs>32</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Create a case study on the functionality of the presentation, business logic, and data access layers of a given software system.</vt:lpstr>
      <vt:lpstr>PowerPoint Presentation</vt:lpstr>
      <vt:lpstr>PowerPoint Presentation</vt:lpstr>
      <vt:lpstr>PowerPoint Presentation</vt:lpstr>
      <vt:lpstr>Layer Interaction 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case study on the functionality of the presentation, business logic, and data access layers of a given software system.</dc:title>
  <dc:creator>admin</dc:creator>
  <cp:lastModifiedBy>admin</cp:lastModifiedBy>
  <cp:revision>2</cp:revision>
  <dcterms:created xsi:type="dcterms:W3CDTF">2026-03-21T02:36:29Z</dcterms:created>
  <dcterms:modified xsi:type="dcterms:W3CDTF">2026-03-21T02:49:20Z</dcterms:modified>
</cp:coreProperties>
</file>